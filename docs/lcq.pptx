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5040313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63" autoAdjust="0"/>
    <p:restoredTop sz="94660"/>
  </p:normalViewPr>
  <p:slideViewPr>
    <p:cSldViewPr snapToGrid="0">
      <p:cViewPr>
        <p:scale>
          <a:sx n="150" d="100"/>
          <a:sy n="150" d="100"/>
        </p:scale>
        <p:origin x="1656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4" y="589241"/>
            <a:ext cx="4284266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1891070"/>
            <a:ext cx="3780235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562D-C89A-4BD8-AF13-C8B9256E47E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B5DE-43B6-4505-ADDF-4D475C68F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911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562D-C89A-4BD8-AF13-C8B9256E47E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B5DE-43B6-4505-ADDF-4D475C68F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779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7" y="897613"/>
            <a:ext cx="4347270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7" y="2409469"/>
            <a:ext cx="4347270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/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562D-C89A-4BD8-AF13-C8B9256E47E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B5DE-43B6-4505-ADDF-4D475C68F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25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958453"/>
            <a:ext cx="2142133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958453"/>
            <a:ext cx="2142133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562D-C89A-4BD8-AF13-C8B9256E47E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B5DE-43B6-4505-ADDF-4D475C68F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969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191691"/>
            <a:ext cx="4347270" cy="695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9" y="882610"/>
            <a:ext cx="2132288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9" y="1315164"/>
            <a:ext cx="2132288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882610"/>
            <a:ext cx="2142790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1315164"/>
            <a:ext cx="2142790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562D-C89A-4BD8-AF13-C8B9256E47E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B5DE-43B6-4505-ADDF-4D475C68F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126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562D-C89A-4BD8-AF13-C8B9256E47E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B5DE-43B6-4505-ADDF-4D475C68F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258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562D-C89A-4BD8-AF13-C8B9256E47E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B5DE-43B6-4505-ADDF-4D475C68F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349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240030"/>
            <a:ext cx="1625632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518399"/>
            <a:ext cx="2551658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1080135"/>
            <a:ext cx="1625632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562D-C89A-4BD8-AF13-C8B9256E47E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B5DE-43B6-4505-ADDF-4D475C68F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13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240030"/>
            <a:ext cx="1625632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518399"/>
            <a:ext cx="2551658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1080135"/>
            <a:ext cx="1625632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562D-C89A-4BD8-AF13-C8B9256E47E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B5DE-43B6-4505-ADDF-4D475C68F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140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562D-C89A-4BD8-AF13-C8B9256E47E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B5DE-43B6-4505-ADDF-4D475C68F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729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5" y="191691"/>
            <a:ext cx="1086817" cy="30512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191691"/>
            <a:ext cx="3197449" cy="30512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562D-C89A-4BD8-AF13-C8B9256E47E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B5DE-43B6-4505-ADDF-4D475C68F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512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191691"/>
            <a:ext cx="4347270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958453"/>
            <a:ext cx="4347270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3337084"/>
            <a:ext cx="113407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A562D-C89A-4BD8-AF13-C8B9256E47E4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3337084"/>
            <a:ext cx="170110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3337084"/>
            <a:ext cx="113407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CB5DE-43B6-4505-ADDF-4D475C68F2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723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929C2256-4F6F-7F8F-9882-B9C71496383A}"/>
              </a:ext>
            </a:extLst>
          </p:cNvPr>
          <p:cNvGrpSpPr/>
          <p:nvPr/>
        </p:nvGrpSpPr>
        <p:grpSpPr>
          <a:xfrm>
            <a:off x="374452" y="101275"/>
            <a:ext cx="4291407" cy="3397900"/>
            <a:chOff x="602855" y="929007"/>
            <a:chExt cx="4291407" cy="3397900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A7F44E26-9A42-D9FB-57BF-4A5D462820AA}"/>
                </a:ext>
              </a:extLst>
            </p:cNvPr>
            <p:cNvSpPr/>
            <p:nvPr/>
          </p:nvSpPr>
          <p:spPr>
            <a:xfrm>
              <a:off x="858007" y="970567"/>
              <a:ext cx="4036255" cy="445295"/>
            </a:xfrm>
            <a:prstGeom prst="roundRect">
              <a:avLst>
                <a:gd name="adj" fmla="val 3639"/>
              </a:avLst>
            </a:prstGeom>
            <a:noFill/>
            <a:ln w="9525" cap="flat" cmpd="sng" algn="ctr">
              <a:solidFill>
                <a:srgbClr val="A40000"/>
              </a:solidFill>
              <a:prstDash val="solid"/>
              <a:miter lim="800000"/>
            </a:ln>
            <a:effectLst>
              <a:outerShdw blurRad="50800" dist="38100" dir="2700000" algn="tl" rotWithShape="0">
                <a:sysClr val="window" lastClr="FFFFFF">
                  <a:lumMod val="75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algn="ctr" defTabSz="149493">
                <a:defRPr/>
              </a:pPr>
              <a:endParaRPr lang="zh-CN" altLang="en-US" sz="454" kern="0" dirty="0">
                <a:solidFill>
                  <a:prstClr val="whit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C84B9B33-5B22-94B5-D773-13236578554F}"/>
                </a:ext>
              </a:extLst>
            </p:cNvPr>
            <p:cNvSpPr/>
            <p:nvPr/>
          </p:nvSpPr>
          <p:spPr>
            <a:xfrm>
              <a:off x="607548" y="929007"/>
              <a:ext cx="257639" cy="536884"/>
            </a:xfrm>
            <a:prstGeom prst="roundRect">
              <a:avLst>
                <a:gd name="adj" fmla="val 17332"/>
              </a:avLst>
            </a:prstGeom>
            <a:solidFill>
              <a:srgbClr val="FC7668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0">
                <a:defRPr/>
              </a:pPr>
              <a:r>
                <a:rPr lang="zh-CN" altLang="en-US" sz="1134" b="1" kern="0" dirty="0">
                  <a:solidFill>
                    <a:prstClr val="white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入口层</a:t>
              </a:r>
              <a:endParaRPr lang="en-US" altLang="zh-CN" sz="1134" b="1" kern="0" dirty="0">
                <a:solidFill>
                  <a:prstClr val="whit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5821C80-46B3-BE0C-110D-40A0E5118580}"/>
                </a:ext>
              </a:extLst>
            </p:cNvPr>
            <p:cNvSpPr/>
            <p:nvPr/>
          </p:nvSpPr>
          <p:spPr>
            <a:xfrm>
              <a:off x="913510" y="1067437"/>
              <a:ext cx="677388" cy="264144"/>
            </a:xfrm>
            <a:prstGeom prst="roundRect">
              <a:avLst>
                <a:gd name="adj" fmla="val 34764"/>
              </a:avLst>
            </a:prstGeom>
            <a:solidFill>
              <a:srgbClr val="FBCDCD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0">
                <a:defRPr/>
              </a:pPr>
              <a:r>
                <a:rPr lang="en-US" altLang="zh-CN" sz="1000" kern="0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WinMain</a:t>
              </a:r>
              <a:endParaRPr lang="en-US" altLang="zh-CN" sz="1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F4A61774-F3F5-D68C-139F-468477B97A4F}"/>
                </a:ext>
              </a:extLst>
            </p:cNvPr>
            <p:cNvSpPr/>
            <p:nvPr/>
          </p:nvSpPr>
          <p:spPr>
            <a:xfrm>
              <a:off x="1727271" y="1067437"/>
              <a:ext cx="677388" cy="264144"/>
            </a:xfrm>
            <a:prstGeom prst="roundRect">
              <a:avLst>
                <a:gd name="adj" fmla="val 34764"/>
              </a:avLst>
            </a:prstGeom>
            <a:solidFill>
              <a:srgbClr val="FBCDCD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0">
                <a:defRPr/>
              </a:pPr>
              <a:r>
                <a:rPr lang="zh-CN" altLang="en-US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消息循环</a:t>
              </a:r>
              <a:endParaRPr lang="en-US" altLang="zh-CN" sz="1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50F5162F-04DF-7ACA-5E86-D2C4E2CDD3B8}"/>
                </a:ext>
              </a:extLst>
            </p:cNvPr>
            <p:cNvSpPr/>
            <p:nvPr/>
          </p:nvSpPr>
          <p:spPr>
            <a:xfrm>
              <a:off x="2541032" y="1067437"/>
              <a:ext cx="677388" cy="264144"/>
            </a:xfrm>
            <a:prstGeom prst="roundRect">
              <a:avLst>
                <a:gd name="adj" fmla="val 34764"/>
              </a:avLst>
            </a:prstGeom>
            <a:solidFill>
              <a:srgbClr val="FBCDCD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0">
                <a:defRPr/>
              </a:pPr>
              <a:r>
                <a:rPr lang="zh-CN" altLang="en-US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对话框</a:t>
              </a:r>
              <a:endParaRPr lang="en-US" altLang="zh-CN" sz="1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3FB6FD48-8ADB-6E89-5AE5-429712137714}"/>
                </a:ext>
              </a:extLst>
            </p:cNvPr>
            <p:cNvSpPr/>
            <p:nvPr/>
          </p:nvSpPr>
          <p:spPr>
            <a:xfrm>
              <a:off x="3354793" y="1067437"/>
              <a:ext cx="677388" cy="264144"/>
            </a:xfrm>
            <a:prstGeom prst="roundRect">
              <a:avLst>
                <a:gd name="adj" fmla="val 34764"/>
              </a:avLst>
            </a:prstGeom>
            <a:solidFill>
              <a:srgbClr val="FBCDCD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0">
                <a:defRPr/>
              </a:pPr>
              <a:r>
                <a:rPr lang="zh-CN" altLang="en-US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菜单</a:t>
              </a:r>
              <a:endParaRPr lang="en-US" altLang="zh-CN" sz="1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E11086F3-8310-8C5B-4EE8-BDE1228ECA5A}"/>
                </a:ext>
              </a:extLst>
            </p:cNvPr>
            <p:cNvSpPr/>
            <p:nvPr/>
          </p:nvSpPr>
          <p:spPr>
            <a:xfrm>
              <a:off x="4168552" y="1067437"/>
              <a:ext cx="677388" cy="264144"/>
            </a:xfrm>
            <a:prstGeom prst="roundRect">
              <a:avLst>
                <a:gd name="adj" fmla="val 34764"/>
              </a:avLst>
            </a:prstGeom>
            <a:solidFill>
              <a:srgbClr val="FBCDCD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0">
                <a:defRPr/>
              </a:pPr>
              <a:r>
                <a:rPr lang="zh-CN" altLang="en-US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定时器</a:t>
              </a:r>
              <a:endParaRPr lang="en-US" altLang="zh-CN" sz="1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16DF0828-8D93-07CD-223B-1051D3708EC0}"/>
                </a:ext>
              </a:extLst>
            </p:cNvPr>
            <p:cNvSpPr/>
            <p:nvPr/>
          </p:nvSpPr>
          <p:spPr>
            <a:xfrm>
              <a:off x="853315" y="1677934"/>
              <a:ext cx="4040947" cy="445295"/>
            </a:xfrm>
            <a:prstGeom prst="roundRect">
              <a:avLst>
                <a:gd name="adj" fmla="val 5619"/>
              </a:avLst>
            </a:prstGeom>
            <a:noFill/>
            <a:ln w="9525" cap="flat" cmpd="sng" algn="ctr">
              <a:solidFill>
                <a:srgbClr val="2683C6">
                  <a:lumMod val="75000"/>
                </a:srgbClr>
              </a:solidFill>
              <a:prstDash val="solid"/>
              <a:miter lim="800000"/>
            </a:ln>
            <a:effectLst>
              <a:outerShdw blurRad="50800" dist="38100" dir="2700000" algn="tl" rotWithShape="0">
                <a:sysClr val="window" lastClr="FFFFFF">
                  <a:lumMod val="75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algn="ctr" defTabSz="149493">
                <a:defRPr/>
              </a:pPr>
              <a:endParaRPr lang="zh-CN" altLang="en-US" sz="454" kern="0" dirty="0">
                <a:solidFill>
                  <a:prstClr val="whit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C5EA23EF-9D2C-90A7-B019-52E6A66DF119}"/>
                </a:ext>
              </a:extLst>
            </p:cNvPr>
            <p:cNvSpPr/>
            <p:nvPr/>
          </p:nvSpPr>
          <p:spPr>
            <a:xfrm>
              <a:off x="602855" y="1626506"/>
              <a:ext cx="257639" cy="536884"/>
            </a:xfrm>
            <a:prstGeom prst="roundRect">
              <a:avLst>
                <a:gd name="adj" fmla="val 17332"/>
              </a:avLst>
            </a:prstGeom>
            <a:solidFill>
              <a:srgbClr val="5EA8E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0">
                <a:defRPr/>
              </a:pPr>
              <a:r>
                <a:rPr lang="zh-CN" altLang="en-US" sz="1134" b="1" kern="0" dirty="0">
                  <a:solidFill>
                    <a:prstClr val="white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功能层</a:t>
              </a:r>
              <a:endParaRPr lang="en-US" altLang="zh-CN" sz="1134" b="1" kern="0" dirty="0">
                <a:solidFill>
                  <a:prstClr val="whit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377BA35F-89CE-0DB8-E35B-3D2332AD955C}"/>
                </a:ext>
              </a:extLst>
            </p:cNvPr>
            <p:cNvSpPr/>
            <p:nvPr/>
          </p:nvSpPr>
          <p:spPr>
            <a:xfrm>
              <a:off x="925382" y="2486654"/>
              <a:ext cx="1744011" cy="264144"/>
            </a:xfrm>
            <a:prstGeom prst="roundRect">
              <a:avLst>
                <a:gd name="adj" fmla="val 34764"/>
              </a:avLst>
            </a:prstGeom>
            <a:solidFill>
              <a:srgbClr val="FFF2CC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0">
                <a:defRPr/>
              </a:pPr>
              <a:r>
                <a:rPr lang="en-US" altLang="zh-CN" sz="1000" kern="0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render.c</a:t>
              </a:r>
              <a:r>
                <a:rPr lang="en-US" altLang="zh-CN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—GDI</a:t>
              </a:r>
              <a:r>
                <a:rPr lang="zh-CN" altLang="en-US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渲染主题系统</a:t>
              </a:r>
              <a:endParaRPr lang="en-US" altLang="zh-CN" sz="1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9CF64E72-4C3C-8133-FF92-5A450A39E6B3}"/>
                </a:ext>
              </a:extLst>
            </p:cNvPr>
            <p:cNvSpPr/>
            <p:nvPr/>
          </p:nvSpPr>
          <p:spPr>
            <a:xfrm>
              <a:off x="908817" y="1777992"/>
              <a:ext cx="905765" cy="264144"/>
            </a:xfrm>
            <a:prstGeom prst="roundRect">
              <a:avLst>
                <a:gd name="adj" fmla="val 34764"/>
              </a:avLst>
            </a:prstGeom>
            <a:solidFill>
              <a:srgbClr val="D1E7F6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0">
                <a:defRPr/>
              </a:pPr>
              <a:r>
                <a:rPr lang="en-US" altLang="zh-CN" sz="1000" kern="0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Stats.c</a:t>
              </a:r>
              <a:r>
                <a:rPr lang="en-US" altLang="zh-CN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—</a:t>
              </a:r>
              <a:r>
                <a:rPr lang="zh-CN" altLang="en-US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排行榜</a:t>
              </a:r>
              <a:endParaRPr lang="en-US" altLang="zh-CN" sz="1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39FE315B-984E-880A-6D06-DDC385917B80}"/>
                </a:ext>
              </a:extLst>
            </p:cNvPr>
            <p:cNvSpPr/>
            <p:nvPr/>
          </p:nvSpPr>
          <p:spPr>
            <a:xfrm>
              <a:off x="2926592" y="1768510"/>
              <a:ext cx="905766" cy="264144"/>
            </a:xfrm>
            <a:prstGeom prst="roundRect">
              <a:avLst>
                <a:gd name="adj" fmla="val 34764"/>
              </a:avLst>
            </a:prstGeom>
            <a:solidFill>
              <a:srgbClr val="D1E7F6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0">
                <a:defRPr/>
              </a:pPr>
              <a:r>
                <a:rPr lang="en-US" altLang="zh-CN" sz="1000" kern="0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user.c</a:t>
              </a:r>
              <a:r>
                <a:rPr lang="en-US" altLang="zh-CN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—</a:t>
              </a:r>
              <a:r>
                <a:rPr lang="zh-CN" altLang="en-US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用户</a:t>
              </a:r>
              <a:endParaRPr lang="en-US" altLang="zh-CN" sz="1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6E184DB9-9ACC-5FDA-2303-3E7DF512769B}"/>
                </a:ext>
              </a:extLst>
            </p:cNvPr>
            <p:cNvSpPr/>
            <p:nvPr/>
          </p:nvSpPr>
          <p:spPr>
            <a:xfrm>
              <a:off x="3935481" y="1768510"/>
              <a:ext cx="905766" cy="264144"/>
            </a:xfrm>
            <a:prstGeom prst="roundRect">
              <a:avLst>
                <a:gd name="adj" fmla="val 34764"/>
              </a:avLst>
            </a:prstGeom>
            <a:solidFill>
              <a:srgbClr val="D1E7F6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0">
                <a:defRPr/>
              </a:pPr>
              <a:r>
                <a:rPr lang="en-US" altLang="zh-CN" sz="1000" kern="0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net.c</a:t>
              </a:r>
              <a:r>
                <a:rPr lang="en-US" altLang="zh-CN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—</a:t>
              </a:r>
              <a:r>
                <a:rPr lang="zh-CN" altLang="en-US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联机</a:t>
              </a:r>
              <a:endParaRPr lang="en-US" altLang="zh-CN" sz="1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21638BD7-A054-491B-69B9-53A7C1943367}"/>
                </a:ext>
              </a:extLst>
            </p:cNvPr>
            <p:cNvSpPr/>
            <p:nvPr/>
          </p:nvSpPr>
          <p:spPr>
            <a:xfrm>
              <a:off x="865187" y="2398407"/>
              <a:ext cx="4029075" cy="445296"/>
            </a:xfrm>
            <a:prstGeom prst="roundRect">
              <a:avLst>
                <a:gd name="adj" fmla="val 3854"/>
              </a:avLst>
            </a:prstGeom>
            <a:noFill/>
            <a:ln w="9525" cap="flat" cmpd="sng" algn="ctr">
              <a:solidFill>
                <a:srgbClr val="FFE181"/>
              </a:solidFill>
              <a:prstDash val="solid"/>
              <a:miter lim="800000"/>
            </a:ln>
            <a:effectLst>
              <a:outerShdw blurRad="50800" dist="38100" dir="2700000" algn="tl" rotWithShape="0">
                <a:sysClr val="window" lastClr="FFFFFF">
                  <a:lumMod val="75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algn="ctr" defTabSz="149493">
                <a:defRPr/>
              </a:pPr>
              <a:endParaRPr lang="zh-CN" altLang="en-US" sz="454" kern="0" dirty="0">
                <a:solidFill>
                  <a:prstClr val="whit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97036D65-F472-2431-CEDE-968C7AA928EE}"/>
                </a:ext>
              </a:extLst>
            </p:cNvPr>
            <p:cNvSpPr/>
            <p:nvPr/>
          </p:nvSpPr>
          <p:spPr>
            <a:xfrm>
              <a:off x="619420" y="2350284"/>
              <a:ext cx="257639" cy="536884"/>
            </a:xfrm>
            <a:prstGeom prst="roundRect">
              <a:avLst>
                <a:gd name="adj" fmla="val 17332"/>
              </a:avLst>
            </a:prstGeom>
            <a:solidFill>
              <a:srgbClr val="FFE181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0">
                <a:defRPr/>
              </a:pPr>
              <a:r>
                <a:rPr lang="zh-CN" altLang="en-US" sz="1134" b="1" kern="0" dirty="0">
                  <a:solidFill>
                    <a:prstClr val="white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表现层</a:t>
              </a:r>
              <a:endParaRPr lang="en-US" altLang="zh-CN" sz="1134" b="1" kern="0" dirty="0">
                <a:solidFill>
                  <a:prstClr val="whit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DDF435C8-13BA-5CA8-3450-0ACD015C299F}"/>
                </a:ext>
              </a:extLst>
            </p:cNvPr>
            <p:cNvSpPr/>
            <p:nvPr/>
          </p:nvSpPr>
          <p:spPr>
            <a:xfrm>
              <a:off x="1917702" y="1777271"/>
              <a:ext cx="905766" cy="264144"/>
            </a:xfrm>
            <a:prstGeom prst="roundRect">
              <a:avLst>
                <a:gd name="adj" fmla="val 34764"/>
              </a:avLst>
            </a:prstGeom>
            <a:solidFill>
              <a:srgbClr val="D1E7F6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0">
                <a:defRPr/>
              </a:pPr>
              <a:r>
                <a:rPr lang="en-US" altLang="zh-CN" sz="1000" kern="0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stats.c</a:t>
              </a:r>
              <a:r>
                <a:rPr lang="en-US" altLang="zh-CN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—</a:t>
              </a:r>
              <a:r>
                <a:rPr lang="zh-CN" altLang="en-US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排行榜</a:t>
              </a:r>
              <a:endParaRPr lang="en-US" altLang="zh-CN" sz="1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3EA78D23-9DC1-A767-D9C3-8D33E61C7B9B}"/>
                </a:ext>
              </a:extLst>
            </p:cNvPr>
            <p:cNvSpPr/>
            <p:nvPr/>
          </p:nvSpPr>
          <p:spPr>
            <a:xfrm>
              <a:off x="3113803" y="2481582"/>
              <a:ext cx="1744011" cy="264144"/>
            </a:xfrm>
            <a:prstGeom prst="roundRect">
              <a:avLst>
                <a:gd name="adj" fmla="val 34764"/>
              </a:avLst>
            </a:prstGeom>
            <a:solidFill>
              <a:srgbClr val="FFF2CC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0">
                <a:defRPr/>
              </a:pPr>
              <a:r>
                <a:rPr lang="en-US" altLang="zh-CN" sz="1000" kern="0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sound.c</a:t>
              </a:r>
              <a:r>
                <a:rPr lang="en-US" altLang="zh-CN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—</a:t>
              </a:r>
              <a:r>
                <a:rPr lang="zh-CN" altLang="en-US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音效</a:t>
              </a:r>
              <a:endParaRPr lang="en-US" altLang="zh-CN" sz="1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1160696A-DC5F-AB84-6C7B-F4AB03E9A28D}"/>
                </a:ext>
              </a:extLst>
            </p:cNvPr>
            <p:cNvSpPr/>
            <p:nvPr/>
          </p:nvSpPr>
          <p:spPr>
            <a:xfrm>
              <a:off x="925381" y="3206261"/>
              <a:ext cx="1744011" cy="264144"/>
            </a:xfrm>
            <a:prstGeom prst="roundRect">
              <a:avLst>
                <a:gd name="adj" fmla="val 34764"/>
              </a:avLst>
            </a:prstGeom>
            <a:solidFill>
              <a:srgbClr val="E5D0F4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0">
                <a:defRPr/>
              </a:pPr>
              <a:r>
                <a:rPr lang="en-US" altLang="zh-CN" sz="1000" kern="0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game.c</a:t>
              </a:r>
              <a:r>
                <a:rPr lang="en-US" altLang="zh-CN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—</a:t>
              </a:r>
              <a:r>
                <a:rPr lang="zh-CN" altLang="en-US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状态机</a:t>
              </a:r>
              <a:endParaRPr lang="en-US" altLang="zh-CN" sz="1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2B69963B-8308-3D63-63ED-7718C26DAE97}"/>
                </a:ext>
              </a:extLst>
            </p:cNvPr>
            <p:cNvSpPr/>
            <p:nvPr/>
          </p:nvSpPr>
          <p:spPr>
            <a:xfrm>
              <a:off x="865186" y="3118014"/>
              <a:ext cx="4029075" cy="445296"/>
            </a:xfrm>
            <a:prstGeom prst="roundRect">
              <a:avLst>
                <a:gd name="adj" fmla="val 3854"/>
              </a:avLst>
            </a:prstGeom>
            <a:noFill/>
            <a:ln w="9525" cap="flat" cmpd="sng" algn="ctr">
              <a:solidFill>
                <a:srgbClr val="BD86E2"/>
              </a:solidFill>
              <a:prstDash val="solid"/>
              <a:miter lim="800000"/>
            </a:ln>
            <a:effectLst>
              <a:outerShdw blurRad="50800" dist="38100" dir="2700000" algn="tl" rotWithShape="0">
                <a:sysClr val="window" lastClr="FFFFFF">
                  <a:lumMod val="75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algn="ctr" defTabSz="149493">
                <a:defRPr/>
              </a:pPr>
              <a:endParaRPr lang="zh-CN" altLang="en-US" sz="454" kern="0" dirty="0">
                <a:solidFill>
                  <a:prstClr val="whit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43534E86-CCA2-9282-C05E-2BA18F03684F}"/>
                </a:ext>
              </a:extLst>
            </p:cNvPr>
            <p:cNvSpPr/>
            <p:nvPr/>
          </p:nvSpPr>
          <p:spPr>
            <a:xfrm>
              <a:off x="619419" y="3069891"/>
              <a:ext cx="257639" cy="536884"/>
            </a:xfrm>
            <a:prstGeom prst="roundRect">
              <a:avLst>
                <a:gd name="adj" fmla="val 17332"/>
              </a:avLst>
            </a:prstGeom>
            <a:solidFill>
              <a:srgbClr val="BD86E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0">
                <a:defRPr/>
              </a:pPr>
              <a:r>
                <a:rPr lang="zh-CN" altLang="en-US" sz="1134" b="1" kern="0" dirty="0">
                  <a:solidFill>
                    <a:prstClr val="white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逻辑层</a:t>
              </a:r>
              <a:endParaRPr lang="en-US" altLang="zh-CN" sz="1134" b="1" kern="0" dirty="0">
                <a:solidFill>
                  <a:prstClr val="whit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14099032-FBB6-AFF4-4269-C5A81D033389}"/>
                </a:ext>
              </a:extLst>
            </p:cNvPr>
            <p:cNvSpPr/>
            <p:nvPr/>
          </p:nvSpPr>
          <p:spPr>
            <a:xfrm>
              <a:off x="3113802" y="3201189"/>
              <a:ext cx="1744011" cy="264144"/>
            </a:xfrm>
            <a:prstGeom prst="roundRect">
              <a:avLst>
                <a:gd name="adj" fmla="val 34764"/>
              </a:avLst>
            </a:prstGeom>
            <a:solidFill>
              <a:srgbClr val="E5D0F4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0">
                <a:defRPr/>
              </a:pPr>
              <a:r>
                <a:rPr lang="en-US" altLang="zh-CN" sz="1000" kern="0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solver.c</a:t>
              </a:r>
              <a:r>
                <a:rPr lang="en-US" altLang="zh-CN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—</a:t>
              </a:r>
              <a:r>
                <a:rPr lang="zh-CN" altLang="en-US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求解器概率计算</a:t>
              </a:r>
              <a:endParaRPr lang="en-US" altLang="zh-CN" sz="1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CA15AC09-1B9E-406C-5A67-FED3C07F943F}"/>
                </a:ext>
              </a:extLst>
            </p:cNvPr>
            <p:cNvSpPr/>
            <p:nvPr/>
          </p:nvSpPr>
          <p:spPr>
            <a:xfrm>
              <a:off x="925381" y="3926393"/>
              <a:ext cx="3915866" cy="264144"/>
            </a:xfrm>
            <a:prstGeom prst="roundRect">
              <a:avLst>
                <a:gd name="adj" fmla="val 34764"/>
              </a:avLst>
            </a:prstGeom>
            <a:solidFill>
              <a:srgbClr val="E0EDEC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0">
                <a:defRPr/>
              </a:pPr>
              <a:r>
                <a:rPr lang="en-US" altLang="zh-CN" sz="1000" kern="0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board.c</a:t>
              </a:r>
              <a:r>
                <a:rPr lang="en-US" altLang="zh-CN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—</a:t>
              </a:r>
              <a:r>
                <a:rPr lang="zh-CN" altLang="en-US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棋盘数据结构</a:t>
              </a:r>
              <a:r>
                <a:rPr lang="en-US" altLang="zh-CN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·</a:t>
              </a:r>
              <a:r>
                <a:rPr lang="zh-CN" altLang="en-US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布雷</a:t>
              </a:r>
              <a:r>
                <a:rPr lang="en-US" altLang="zh-CN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·BFS</a:t>
              </a:r>
              <a:r>
                <a:rPr lang="zh-CN" altLang="en-US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洪水填充</a:t>
              </a:r>
              <a:r>
                <a:rPr lang="en-US" altLang="zh-CN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·</a:t>
              </a:r>
              <a:r>
                <a:rPr lang="zh-CN" altLang="en-US" sz="10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环面拓扑</a:t>
              </a:r>
              <a:endParaRPr lang="en-US" altLang="zh-CN" sz="1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AC95B115-E631-41D6-9357-2B7D0438480A}"/>
                </a:ext>
              </a:extLst>
            </p:cNvPr>
            <p:cNvSpPr/>
            <p:nvPr/>
          </p:nvSpPr>
          <p:spPr>
            <a:xfrm>
              <a:off x="865186" y="3838146"/>
              <a:ext cx="4029075" cy="445296"/>
            </a:xfrm>
            <a:prstGeom prst="roundRect">
              <a:avLst>
                <a:gd name="adj" fmla="val 3854"/>
              </a:avLst>
            </a:prstGeom>
            <a:noFill/>
            <a:ln w="9525" cap="flat" cmpd="sng" algn="ctr">
              <a:solidFill>
                <a:srgbClr val="62A39F">
                  <a:shade val="15000"/>
                </a:srgbClr>
              </a:solidFill>
              <a:prstDash val="solid"/>
              <a:miter lim="800000"/>
            </a:ln>
            <a:effectLst>
              <a:outerShdw blurRad="50800" dist="38100" dir="2700000" algn="tl" rotWithShape="0">
                <a:sysClr val="window" lastClr="FFFFFF">
                  <a:lumMod val="75000"/>
                  <a:alpha val="40000"/>
                </a:sysClr>
              </a:outerShdw>
            </a:effectLst>
          </p:spPr>
          <p:txBody>
            <a:bodyPr rtlCol="0" anchor="ctr"/>
            <a:lstStyle/>
            <a:p>
              <a:pPr algn="ctr" defTabSz="149493">
                <a:defRPr/>
              </a:pPr>
              <a:endParaRPr lang="zh-CN" altLang="en-US" sz="454" kern="0" dirty="0">
                <a:solidFill>
                  <a:prstClr val="whit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A226E020-6579-6BA2-8C8C-B5CEFCF6983A}"/>
                </a:ext>
              </a:extLst>
            </p:cNvPr>
            <p:cNvSpPr/>
            <p:nvPr/>
          </p:nvSpPr>
          <p:spPr>
            <a:xfrm>
              <a:off x="619419" y="3790023"/>
              <a:ext cx="257639" cy="536884"/>
            </a:xfrm>
            <a:prstGeom prst="roundRect">
              <a:avLst>
                <a:gd name="adj" fmla="val 17332"/>
              </a:avLst>
            </a:prstGeom>
            <a:solidFill>
              <a:srgbClr val="69A7A4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0">
                <a:defRPr/>
              </a:pPr>
              <a:r>
                <a:rPr lang="zh-CN" altLang="en-US" sz="1134" b="1" kern="0" dirty="0">
                  <a:solidFill>
                    <a:prstClr val="white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数据层</a:t>
              </a:r>
              <a:endParaRPr lang="en-US" altLang="zh-CN" sz="1134" b="1" kern="0" dirty="0">
                <a:solidFill>
                  <a:prstClr val="whit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箭头: 右 57">
              <a:extLst>
                <a:ext uri="{FF2B5EF4-FFF2-40B4-BE49-F238E27FC236}">
                  <a16:creationId xmlns:a16="http://schemas.microsoft.com/office/drawing/2014/main" id="{DF5CDFCB-438B-53AF-85CE-7242F5CFBD90}"/>
                </a:ext>
              </a:extLst>
            </p:cNvPr>
            <p:cNvSpPr/>
            <p:nvPr/>
          </p:nvSpPr>
          <p:spPr>
            <a:xfrm rot="5400000">
              <a:off x="2737210" y="1286190"/>
              <a:ext cx="267805" cy="521418"/>
            </a:xfrm>
            <a:prstGeom prst="rightArrow">
              <a:avLst>
                <a:gd name="adj1" fmla="val 44978"/>
                <a:gd name="adj2" fmla="val 61841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316454">
                <a:defRPr/>
              </a:pPr>
              <a:endParaRPr lang="zh-CN" altLang="en-US" sz="484" kern="0" dirty="0">
                <a:solidFill>
                  <a:prstClr val="black">
                    <a:lumMod val="95000"/>
                    <a:lumOff val="5000"/>
                  </a:prst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箭头: 右 58">
              <a:extLst>
                <a:ext uri="{FF2B5EF4-FFF2-40B4-BE49-F238E27FC236}">
                  <a16:creationId xmlns:a16="http://schemas.microsoft.com/office/drawing/2014/main" id="{08FCF2F3-035B-2DA2-35DB-7CE3BA0CE9AE}"/>
                </a:ext>
              </a:extLst>
            </p:cNvPr>
            <p:cNvSpPr/>
            <p:nvPr/>
          </p:nvSpPr>
          <p:spPr>
            <a:xfrm rot="5400000">
              <a:off x="2751757" y="2002856"/>
              <a:ext cx="267805" cy="521418"/>
            </a:xfrm>
            <a:prstGeom prst="rightArrow">
              <a:avLst>
                <a:gd name="adj1" fmla="val 44978"/>
                <a:gd name="adj2" fmla="val 61841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316454">
                <a:defRPr/>
              </a:pPr>
              <a:endParaRPr lang="zh-CN" altLang="en-US" sz="484" kern="0" dirty="0">
                <a:solidFill>
                  <a:prstClr val="black">
                    <a:lumMod val="95000"/>
                    <a:lumOff val="5000"/>
                  </a:prst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箭头: 右 59">
              <a:extLst>
                <a:ext uri="{FF2B5EF4-FFF2-40B4-BE49-F238E27FC236}">
                  <a16:creationId xmlns:a16="http://schemas.microsoft.com/office/drawing/2014/main" id="{4D239411-2EAD-6CE4-F287-10E2048C75E6}"/>
                </a:ext>
              </a:extLst>
            </p:cNvPr>
            <p:cNvSpPr/>
            <p:nvPr/>
          </p:nvSpPr>
          <p:spPr>
            <a:xfrm rot="5400000">
              <a:off x="2745820" y="2719887"/>
              <a:ext cx="267805" cy="521418"/>
            </a:xfrm>
            <a:prstGeom prst="rightArrow">
              <a:avLst>
                <a:gd name="adj1" fmla="val 44978"/>
                <a:gd name="adj2" fmla="val 61841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316454">
                <a:defRPr/>
              </a:pPr>
              <a:endParaRPr lang="zh-CN" altLang="en-US" sz="484" kern="0" dirty="0">
                <a:solidFill>
                  <a:prstClr val="black">
                    <a:lumMod val="95000"/>
                    <a:lumOff val="5000"/>
                  </a:prst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箭头: 右 60">
              <a:extLst>
                <a:ext uri="{FF2B5EF4-FFF2-40B4-BE49-F238E27FC236}">
                  <a16:creationId xmlns:a16="http://schemas.microsoft.com/office/drawing/2014/main" id="{CD3D298C-6865-13FF-D6CE-A1E95B4D71BB}"/>
                </a:ext>
              </a:extLst>
            </p:cNvPr>
            <p:cNvSpPr/>
            <p:nvPr/>
          </p:nvSpPr>
          <p:spPr>
            <a:xfrm rot="5400000">
              <a:off x="2745819" y="3439787"/>
              <a:ext cx="267805" cy="521418"/>
            </a:xfrm>
            <a:prstGeom prst="rightArrow">
              <a:avLst>
                <a:gd name="adj1" fmla="val 44978"/>
                <a:gd name="adj2" fmla="val 61841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316454">
                <a:defRPr/>
              </a:pPr>
              <a:endParaRPr lang="zh-CN" altLang="en-US" sz="484" kern="0" dirty="0">
                <a:solidFill>
                  <a:prstClr val="black">
                    <a:lumMod val="95000"/>
                    <a:lumOff val="5000"/>
                  </a:prst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4150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78</Words>
  <Application>Microsoft Office PowerPoint</Application>
  <PresentationFormat>自定义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祥祎 董</dc:creator>
  <cp:lastModifiedBy>祥祎 董</cp:lastModifiedBy>
  <cp:revision>1</cp:revision>
  <dcterms:created xsi:type="dcterms:W3CDTF">2026-03-30T16:01:54Z</dcterms:created>
  <dcterms:modified xsi:type="dcterms:W3CDTF">2026-03-30T16:02:52Z</dcterms:modified>
</cp:coreProperties>
</file>